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defRPr>
            </a:pPr>
            <a:r>
              <a:rPr lang="en-ZA" sz="1800" b="0" i="0" u="none" strike="noStrike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Sessions by Age Group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F7-4935-A626-BDFB3584882D}"/>
              </c:ext>
            </c:extLst>
          </c:dPt>
          <c:dPt>
            <c:idx val="1"/>
            <c:invertIfNegative val="0"/>
            <c:bubble3D val="0"/>
            <c:spPr>
              <a:solidFill>
                <a:srgbClr val="F4A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F7-4935-A626-BDFB3584882D}"/>
              </c:ext>
            </c:extLst>
          </c:dPt>
          <c:dPt>
            <c:idx val="2"/>
            <c:invertIfNegative val="0"/>
            <c:bubble3D val="0"/>
            <c:spPr>
              <a:solidFill>
                <a:srgbClr val="0096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F7-4935-A626-BDFB3584882D}"/>
              </c:ext>
            </c:extLst>
          </c:dPt>
          <c:dPt>
            <c:idx val="3"/>
            <c:invertIfNegative val="0"/>
            <c:bubble3D val="0"/>
            <c:spPr>
              <a:solidFill>
                <a:srgbClr val="96D3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F7-4935-A626-BDFB3584882D}"/>
              </c:ext>
            </c:extLst>
          </c:dPt>
          <c:dPt>
            <c:idx val="4"/>
            <c:invertIfNegative val="0"/>
            <c:bubble3D val="0"/>
            <c:spPr>
              <a:solidFill>
                <a:srgbClr val="CDE8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F7-4935-A626-BDFB3584882D}"/>
              </c:ext>
            </c:extLst>
          </c:dPt>
          <c:dPt>
            <c:idx val="5"/>
            <c:invertIfNegative val="0"/>
            <c:bubble3D val="0"/>
            <c:spPr>
              <a:solidFill>
                <a:srgbClr val="8B9C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F7-4935-A626-BDFB3584882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Middle-Aged
(30-49)</c:v>
                </c:pt>
                <c:pt idx="1">
                  <c:v>Young Adults
(18-29)</c:v>
                </c:pt>
                <c:pt idx="2">
                  <c:v>Adults
(50-64)</c:v>
                </c:pt>
                <c:pt idx="3">
                  <c:v>Teenagers
(13-17)</c:v>
                </c:pt>
                <c:pt idx="4">
                  <c:v>Kids
(&lt;13)</c:v>
                </c:pt>
                <c:pt idx="5">
                  <c:v>Seniors
(65+)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4455</c:v>
                </c:pt>
                <c:pt idx="1">
                  <c:v>3748</c:v>
                </c:pt>
                <c:pt idx="2">
                  <c:v>898</c:v>
                </c:pt>
                <c:pt idx="3">
                  <c:v>436</c:v>
                </c:pt>
                <c:pt idx="4">
                  <c:v>358</c:v>
                </c:pt>
                <c:pt idx="5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F7-4935-A626-BDFB358488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0D-475D-B674-E76FC82A4AC9}"/>
              </c:ext>
            </c:extLst>
          </c:dPt>
          <c:dPt>
            <c:idx val="1"/>
            <c:invertIfNegative val="0"/>
            <c:bubble3D val="0"/>
            <c:spPr>
              <a:solidFill>
                <a:srgbClr val="F4A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0D-475D-B674-E76FC82A4AC9}"/>
              </c:ext>
            </c:extLst>
          </c:dPt>
          <c:dPt>
            <c:idx val="2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0D-475D-B674-E76FC82A4AC9}"/>
              </c:ext>
            </c:extLst>
          </c:dPt>
          <c:dPt>
            <c:idx val="3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A0D-475D-B674-E76FC82A4AC9}"/>
              </c:ext>
            </c:extLst>
          </c:dPt>
          <c:dPt>
            <c:idx val="4"/>
            <c:invertIfNegative val="0"/>
            <c:bubble3D val="0"/>
            <c:spPr>
              <a:solidFill>
                <a:srgbClr val="0096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A0D-475D-B674-E76FC82A4AC9}"/>
              </c:ext>
            </c:extLst>
          </c:dPt>
          <c:dPt>
            <c:idx val="5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A0D-475D-B674-E76FC82A4AC9}"/>
              </c:ext>
            </c:extLst>
          </c:dPt>
          <c:dPt>
            <c:idx val="6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A0D-475D-B674-E76FC82A4AC9}"/>
              </c:ext>
            </c:extLst>
          </c:dPt>
          <c:dPt>
            <c:idx val="7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A0D-475D-B674-E76FC82A4AC9}"/>
              </c:ext>
            </c:extLst>
          </c:dPt>
          <c:dPt>
            <c:idx val="8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A0D-475D-B674-E76FC82A4AC9}"/>
              </c:ext>
            </c:extLst>
          </c:dPt>
          <c:dPt>
            <c:idx val="9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A0D-475D-B674-E76FC82A4A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cat>
            <c:strRef>
              <c:f>Sheet1!$A$2:$A$11</c:f>
              <c:strCache>
                <c:ptCount val="10"/>
                <c:pt idx="0">
                  <c:v>Supersport
Live Events</c:v>
                </c:pt>
                <c:pt idx="1">
                  <c:v>ICC Cricket
World Cup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
Blitz</c:v>
                </c:pt>
                <c:pt idx="5">
                  <c:v>Africa
Magic</c:v>
                </c:pt>
                <c:pt idx="6">
                  <c:v>Cartoon
Network</c:v>
                </c:pt>
                <c:pt idx="7">
                  <c:v>Boomerang</c:v>
                </c:pt>
                <c:pt idx="8">
                  <c:v>CNN</c:v>
                </c:pt>
                <c:pt idx="9">
                  <c:v>E!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A0D-475D-B674-E76FC82A4A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Time (mins)</c:v>
                </c:pt>
              </c:strCache>
            </c:strRef>
          </c:tx>
          <c:spPr>
            <a:solidFill>
              <a:srgbClr val="F4A8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5C-413B-BEED-723F647953A9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5C-413B-BEED-723F647953A9}"/>
              </c:ext>
            </c:extLst>
          </c:dPt>
          <c:dPt>
            <c:idx val="2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5C-413B-BEED-723F647953A9}"/>
              </c:ext>
            </c:extLst>
          </c:dPt>
          <c:dPt>
            <c:idx val="3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5C-413B-BEED-723F647953A9}"/>
              </c:ext>
            </c:extLst>
          </c:dPt>
          <c:dPt>
            <c:idx val="4"/>
            <c:invertIfNegative val="0"/>
            <c:bubble3D val="0"/>
            <c:spPr>
              <a:solidFill>
                <a:srgbClr val="0096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5C-413B-BEED-723F647953A9}"/>
              </c:ext>
            </c:extLst>
          </c:dPt>
          <c:dPt>
            <c:idx val="5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E5C-413B-BEED-723F647953A9}"/>
              </c:ext>
            </c:extLst>
          </c:dPt>
          <c:dPt>
            <c:idx val="6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E5C-413B-BEED-723F647953A9}"/>
              </c:ext>
            </c:extLst>
          </c:dPt>
          <c:dPt>
            <c:idx val="7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E5C-413B-BEED-723F647953A9}"/>
              </c:ext>
            </c:extLst>
          </c:dPt>
          <c:dPt>
            <c:idx val="8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E5C-413B-BEED-723F647953A9}"/>
              </c:ext>
            </c:extLst>
          </c:dPt>
          <c:dPt>
            <c:idx val="9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E5C-413B-BEED-723F647953A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ICC Cricket
World Cup</c:v>
                </c:pt>
                <c:pt idx="1">
                  <c:v>Supersport
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
Blitz</c:v>
                </c:pt>
                <c:pt idx="5">
                  <c:v>Boomerang</c:v>
                </c:pt>
                <c:pt idx="6">
                  <c:v>Cartoon
Network</c:v>
                </c:pt>
                <c:pt idx="7">
                  <c:v>CNN</c:v>
                </c:pt>
                <c:pt idx="8">
                  <c:v>Africa
Magic</c:v>
                </c:pt>
                <c:pt idx="9">
                  <c:v>E! Ent.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24728</c:v>
                </c:pt>
                <c:pt idx="1">
                  <c:v>18792</c:v>
                </c:pt>
                <c:pt idx="2">
                  <c:v>11565</c:v>
                </c:pt>
                <c:pt idx="3">
                  <c:v>11515</c:v>
                </c:pt>
                <c:pt idx="4">
                  <c:v>5441</c:v>
                </c:pt>
                <c:pt idx="5">
                  <c:v>4396</c:v>
                </c:pt>
                <c:pt idx="6">
                  <c:v>4215</c:v>
                </c:pt>
                <c:pt idx="7">
                  <c:v>4067</c:v>
                </c:pt>
                <c:pt idx="8">
                  <c:v>2927</c:v>
                </c:pt>
                <c:pt idx="9">
                  <c:v>2219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E5C-413B-BEED-723F647953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CF-46FA-85FA-9111AD5973CD}"/>
              </c:ext>
            </c:extLst>
          </c:dPt>
          <c:dPt>
            <c:idx val="1"/>
            <c:bubble3D val="0"/>
            <c:spPr>
              <a:solidFill>
                <a:srgbClr val="F4A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CF-46FA-85FA-9111AD5973CD}"/>
              </c:ext>
            </c:extLst>
          </c:dPt>
          <c:dPt>
            <c:idx val="2"/>
            <c:bubble3D val="0"/>
            <c:spPr>
              <a:solidFill>
                <a:srgbClr val="0096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CF-46FA-85FA-9111AD5973CD}"/>
              </c:ext>
            </c:extLst>
          </c:dPt>
          <c:dPt>
            <c:idx val="3"/>
            <c:bubble3D val="0"/>
            <c:spPr>
              <a:solidFill>
                <a:srgbClr val="96D3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CF-46FA-85FA-9111AD5973CD}"/>
              </c:ext>
            </c:extLst>
          </c:dPt>
          <c:dPt>
            <c:idx val="4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CF-46FA-85FA-9111AD5973CD}"/>
              </c:ext>
            </c:extLst>
          </c:dPt>
          <c:dPt>
            <c:idx val="5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FCF-46FA-85FA-9111AD5973CD}"/>
              </c:ext>
            </c:extLst>
          </c:dPt>
          <c:dPt>
            <c:idx val="6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FCF-46FA-85FA-9111AD5973CD}"/>
              </c:ext>
            </c:extLst>
          </c:dPt>
          <c:dPt>
            <c:idx val="7"/>
            <c:bubble3D val="0"/>
            <c:spPr>
              <a:solidFill>
                <a:srgbClr val="8B9C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FCF-46FA-85FA-9111AD5973CD}"/>
              </c:ext>
            </c:extLst>
          </c:dPt>
          <c:dPt>
            <c:idx val="8"/>
            <c:bubble3D val="0"/>
            <c:spPr>
              <a:solidFill>
                <a:srgbClr val="CDE8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FCF-46FA-85FA-9111AD5973C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CF-46FA-85FA-9111AD5973C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CF-46FA-85FA-9111AD5973C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CF-46FA-85FA-9111AD5973C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CF-46FA-85FA-9111AD5973C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FCF-46FA-85FA-9111AD5973C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FCF-46FA-85FA-9111AD5973CD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FCF-46FA-85FA-9111AD5973CD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FCF-46FA-85FA-9111AD5973CD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FCF-46FA-85FA-9111AD5973C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3654</c:v>
                </c:pt>
                <c:pt idx="1">
                  <c:v>1845</c:v>
                </c:pt>
                <c:pt idx="2">
                  <c:v>1001</c:v>
                </c:pt>
                <c:pt idx="3">
                  <c:v>918</c:v>
                </c:pt>
                <c:pt idx="4">
                  <c:v>763</c:v>
                </c:pt>
                <c:pt idx="5">
                  <c:v>690</c:v>
                </c:pt>
                <c:pt idx="6">
                  <c:v>344</c:v>
                </c:pt>
                <c:pt idx="7">
                  <c:v>292</c:v>
                </c:pt>
                <c:pt idx="8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3FCF-46FA-85FA-9111AD597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Sessions by Time of Day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A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A7-44BA-9C8F-03B4331B2CCB}"/>
              </c:ext>
            </c:extLst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A7-44BA-9C8F-03B4331B2CCB}"/>
              </c:ext>
            </c:extLst>
          </c:dPt>
          <c:dPt>
            <c:idx val="2"/>
            <c:bubble3D val="0"/>
            <c:spPr>
              <a:solidFill>
                <a:srgbClr val="0096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A7-44BA-9C8F-03B4331B2CCB}"/>
              </c:ext>
            </c:extLst>
          </c:dPt>
          <c:dPt>
            <c:idx val="3"/>
            <c:bubble3D val="0"/>
            <c:spPr>
              <a:solidFill>
                <a:srgbClr val="96D3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A7-44BA-9C8F-03B4331B2CC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3A7-44BA-9C8F-03B4331B2CC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3A7-44BA-9C8F-03B4331B2CC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A7-44BA-9C8F-03B4331B2CC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3A7-44BA-9C8F-03B4331B2CC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Afternoon</c:v>
                </c:pt>
                <c:pt idx="1">
                  <c:v>Morning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3807</c:v>
                </c:pt>
                <c:pt idx="1">
                  <c:v>3085</c:v>
                </c:pt>
                <c:pt idx="2">
                  <c:v>2069</c:v>
                </c:pt>
                <c:pt idx="3">
                  <c:v>1039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A7-44BA-9C8F-03B4331B2C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Sessions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09-4C44-976A-3D4DC8EBABFE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09-4C44-976A-3D4DC8EBABFE}"/>
              </c:ext>
            </c:extLst>
          </c:dPt>
          <c:dPt>
            <c:idx val="2"/>
            <c:invertIfNegative val="0"/>
            <c:bubble3D val="0"/>
            <c:spPr>
              <a:solidFill>
                <a:srgbClr val="F4A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09-4C44-976A-3D4DC8EBABFE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09-4C44-976A-3D4DC8EBABFE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D09-4C44-976A-3D4DC8EBABFE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D09-4C44-976A-3D4DC8EBABFE}"/>
              </c:ext>
            </c:extLst>
          </c:dPt>
          <c:dPt>
            <c:idx val="6"/>
            <c:invertIfNegative val="0"/>
            <c:bubble3D val="0"/>
            <c:spPr>
              <a:solidFill>
                <a:srgbClr val="8B9C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D09-4C44-976A-3D4DC8EBAB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Saturday</c:v>
                </c:pt>
                <c:pt idx="1">
                  <c:v>Friday</c:v>
                </c:pt>
                <c:pt idx="2">
                  <c:v>Wednesday</c:v>
                </c:pt>
                <c:pt idx="3">
                  <c:v>Thursday</c:v>
                </c:pt>
                <c:pt idx="4">
                  <c:v>Sunday</c:v>
                </c:pt>
                <c:pt idx="5">
                  <c:v>Tuesday</c:v>
                </c:pt>
                <c:pt idx="6">
                  <c:v>Monday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1655</c:v>
                </c:pt>
                <c:pt idx="1">
                  <c:v>1642</c:v>
                </c:pt>
                <c:pt idx="2">
                  <c:v>1539</c:v>
                </c:pt>
                <c:pt idx="3">
                  <c:v>1471</c:v>
                </c:pt>
                <c:pt idx="4">
                  <c:v>1398</c:v>
                </c:pt>
                <c:pt idx="5">
                  <c:v>1321</c:v>
                </c:pt>
                <c:pt idx="6">
                  <c:v>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D09-4C44-976A-3D4DC8EBAB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Sessions by Month (Strong Growth)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8B9CB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9C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4F-4DE6-B3B1-980FD2DD591E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4F-4DE6-B3B1-980FD2DD591E}"/>
              </c:ext>
            </c:extLst>
          </c:dPt>
          <c:dPt>
            <c:idx val="2"/>
            <c:invertIfNegative val="0"/>
            <c:bubble3D val="0"/>
            <c:spPr>
              <a:solidFill>
                <a:srgbClr val="F4A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4F-4DE6-B3B1-980FD2DD59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2203</c:v>
                </c:pt>
                <c:pt idx="1">
                  <c:v>2976</c:v>
                </c:pt>
                <c:pt idx="2">
                  <c:v>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4F-4DE6-B3B1-980FD2DD59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Avg Session Duration by Age Group (min)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Duration (min)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E9B-436F-910D-8DB9F774BFD6}"/>
              </c:ext>
            </c:extLst>
          </c:dPt>
          <c:dPt>
            <c:idx val="1"/>
            <c:invertIfNegative val="0"/>
            <c:bubble3D val="0"/>
            <c:spPr>
              <a:solidFill>
                <a:srgbClr val="F4A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9B-436F-910D-8DB9F774BFD6}"/>
              </c:ext>
            </c:extLst>
          </c:dPt>
          <c:dPt>
            <c:idx val="2"/>
            <c:invertIfNegative val="0"/>
            <c:bubble3D val="0"/>
            <c:spPr>
              <a:solidFill>
                <a:srgbClr val="0096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9B-436F-910D-8DB9F774BFD6}"/>
              </c:ext>
            </c:extLst>
          </c:dPt>
          <c:dPt>
            <c:idx val="3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9B-436F-910D-8DB9F774BFD6}"/>
              </c:ext>
            </c:extLst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E9B-436F-910D-8DB9F774BFD6}"/>
              </c:ext>
            </c:extLst>
          </c:dPt>
          <c:dPt>
            <c:idx val="5"/>
            <c:invertIfNegative val="0"/>
            <c:bubble3D val="0"/>
            <c:spPr>
              <a:solidFill>
                <a:srgbClr val="8B9C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E9B-436F-910D-8DB9F774BF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Adults</c:v>
                </c:pt>
                <c:pt idx="1">
                  <c:v>Kids</c:v>
                </c:pt>
                <c:pt idx="2">
                  <c:v>Middle-Aged</c:v>
                </c:pt>
                <c:pt idx="3">
                  <c:v>Young Adults</c:v>
                </c:pt>
                <c:pt idx="4">
                  <c:v>Seniors</c:v>
                </c:pt>
                <c:pt idx="5">
                  <c:v>Teenagers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10.199999999999999</c:v>
                </c:pt>
                <c:pt idx="1">
                  <c:v>9.6</c:v>
                </c:pt>
                <c:pt idx="2">
                  <c:v>9.4</c:v>
                </c:pt>
                <c:pt idx="3">
                  <c:v>8.9</c:v>
                </c:pt>
                <c:pt idx="4">
                  <c:v>6.6</c:v>
                </c:pt>
                <c:pt idx="5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E9B-436F-910D-8DB9F774BF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4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324F"/>
          </a:solidFill>
          <a:ln/>
        </p:spPr>
        <p:txBody>
          <a:bodyPr/>
          <a:lstStyle/>
          <a:p>
            <a:endParaRPr lang="en-ZA" dirty="0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57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00" dirty="0">
                <a:solidFill>
                  <a:srgbClr val="00B4D8"/>
                </a:solidFill>
              </a:rPr>
              <a:t>BRIGHT TV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0803" y="1097283"/>
            <a:ext cx="5852160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Analytics Report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11480" y="2651759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0F0"/>
                </a:solidFill>
              </a:rPr>
              <a:t>January – March 2016  |  South Africa</a:t>
            </a:r>
            <a:br>
              <a:rPr lang="en-US" sz="1600" dirty="0">
                <a:solidFill>
                  <a:srgbClr val="8B9CB5"/>
                </a:solidFill>
              </a:rPr>
            </a:b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" y="35661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B0F0"/>
                </a:solidFill>
              </a:rPr>
              <a:t>10,000 Viewing Sessions  ·  4,386 Unique Viewers  ·  18 Channels</a:t>
            </a:r>
            <a:br>
              <a:rPr lang="en-US" sz="1200" dirty="0">
                <a:solidFill>
                  <a:srgbClr val="8B9CB5"/>
                </a:solidFill>
              </a:rPr>
            </a:br>
            <a:br>
              <a:rPr lang="en-US" sz="1200" dirty="0">
                <a:solidFill>
                  <a:srgbClr val="8B9CB5"/>
                </a:solidFill>
              </a:rPr>
            </a:br>
            <a:br>
              <a:rPr lang="en-US" sz="1200" dirty="0">
                <a:solidFill>
                  <a:srgbClr val="8B9CB5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By : Judicious Masasanya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       </a:t>
            </a:r>
            <a:r>
              <a:rPr lang="en-US" sz="2000" b="1" dirty="0">
                <a:solidFill>
                  <a:schemeClr val="bg1"/>
                </a:solidFill>
              </a:rPr>
              <a:t>Data Scientist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6610" y="0"/>
            <a:ext cx="3474720" cy="5143500"/>
          </a:xfrm>
          <a:prstGeom prst="rect">
            <a:avLst/>
          </a:prstGeom>
          <a:solidFill>
            <a:srgbClr val="14324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014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52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0F0"/>
                </a:solidFill>
              </a:rPr>
              <a:t>Key metrics</a:t>
            </a:r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Audience Demographics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0F0"/>
                </a:solidFill>
              </a:rPr>
              <a:t>Who is watching Bright TV</a:t>
            </a:r>
          </a:p>
        </p:txBody>
      </p:sp>
      <p:sp>
        <p:nvSpPr>
          <p:cNvPr id="12" name="Shape 10"/>
          <p:cNvSpPr/>
          <p:nvPr/>
        </p:nvSpPr>
        <p:spPr>
          <a:xfrm>
            <a:off x="274320" y="2359152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274320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Channel Performance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587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0F0"/>
                </a:solidFill>
              </a:rPr>
              <a:t>Top channels by reach &amp; time</a:t>
            </a:r>
          </a:p>
        </p:txBody>
      </p:sp>
      <p:sp>
        <p:nvSpPr>
          <p:cNvPr id="16" name="Shape 14"/>
          <p:cNvSpPr/>
          <p:nvPr/>
        </p:nvSpPr>
        <p:spPr>
          <a:xfrm>
            <a:off x="274320" y="3026664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27432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17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Geographical Insights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2552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0F0"/>
                </a:solidFill>
              </a:rPr>
              <a:t>Viewership by province</a:t>
            </a:r>
          </a:p>
        </p:txBody>
      </p:sp>
      <p:sp>
        <p:nvSpPr>
          <p:cNvPr id="20" name="Shape 18"/>
          <p:cNvSpPr/>
          <p:nvPr/>
        </p:nvSpPr>
        <p:spPr>
          <a:xfrm>
            <a:off x="274320" y="3694176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274320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685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Viewing Behaviour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9227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0F0"/>
                </a:solidFill>
              </a:rPr>
              <a:t>When &amp; how audiences start watching</a:t>
            </a:r>
          </a:p>
        </p:txBody>
      </p:sp>
      <p:sp>
        <p:nvSpPr>
          <p:cNvPr id="24" name="Shape 22"/>
          <p:cNvSpPr/>
          <p:nvPr/>
        </p:nvSpPr>
        <p:spPr>
          <a:xfrm>
            <a:off x="274320" y="4361688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274320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4352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Strategic Recommendations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590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0F0"/>
                </a:solidFill>
              </a:rPr>
              <a:t>Action points for growth</a:t>
            </a:r>
          </a:p>
        </p:txBody>
      </p:sp>
      <p:sp>
        <p:nvSpPr>
          <p:cNvPr id="28" name="Text 26"/>
          <p:cNvSpPr/>
          <p:nvPr/>
        </p:nvSpPr>
        <p:spPr>
          <a:xfrm>
            <a:off x="3931920" y="365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0B4D8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31920" y="96012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3931920" y="960120"/>
            <a:ext cx="2286000" cy="502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4023360" y="1143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10,000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023360" y="1709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</a:rPr>
              <a:t>Total Viewing Sessions</a:t>
            </a:r>
          </a:p>
        </p:txBody>
      </p:sp>
      <p:sp>
        <p:nvSpPr>
          <p:cNvPr id="33" name="Shape 31"/>
          <p:cNvSpPr/>
          <p:nvPr/>
        </p:nvSpPr>
        <p:spPr>
          <a:xfrm>
            <a:off x="6537960" y="96012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6537960" y="960120"/>
            <a:ext cx="2286000" cy="502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629400" y="1143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4,386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629400" y="1709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</a:rPr>
              <a:t>Unique Viewers</a:t>
            </a:r>
          </a:p>
        </p:txBody>
      </p:sp>
      <p:sp>
        <p:nvSpPr>
          <p:cNvPr id="37" name="Shape 35"/>
          <p:cNvSpPr/>
          <p:nvPr/>
        </p:nvSpPr>
        <p:spPr>
          <a:xfrm>
            <a:off x="3931920" y="237744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3931920" y="2377440"/>
            <a:ext cx="2286000" cy="50292"/>
          </a:xfrm>
          <a:prstGeom prst="rect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402336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800"/>
                </a:solidFill>
              </a:rPr>
              <a:t>18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4023360" y="3127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</a:rPr>
              <a:t>Channels Tracked</a:t>
            </a:r>
          </a:p>
        </p:txBody>
      </p:sp>
      <p:sp>
        <p:nvSpPr>
          <p:cNvPr id="41" name="Shape 39"/>
          <p:cNvSpPr/>
          <p:nvPr/>
        </p:nvSpPr>
        <p:spPr>
          <a:xfrm>
            <a:off x="6537960" y="237744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2" name="Shape 40"/>
          <p:cNvSpPr/>
          <p:nvPr/>
        </p:nvSpPr>
        <p:spPr>
          <a:xfrm>
            <a:off x="6537960" y="2377440"/>
            <a:ext cx="2286000" cy="50292"/>
          </a:xfrm>
          <a:prstGeom prst="rect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62940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800"/>
                </a:solidFill>
              </a:rPr>
              <a:t>3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6629400" y="3127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</a:rPr>
              <a:t>Months (Jan–Mar 2016)</a:t>
            </a:r>
          </a:p>
        </p:txBody>
      </p:sp>
      <p:sp>
        <p:nvSpPr>
          <p:cNvPr id="45" name="Shape 43"/>
          <p:cNvSpPr/>
          <p:nvPr/>
        </p:nvSpPr>
        <p:spPr>
          <a:xfrm>
            <a:off x="3931920" y="379476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6" name="Shape 44"/>
          <p:cNvSpPr/>
          <p:nvPr/>
        </p:nvSpPr>
        <p:spPr>
          <a:xfrm>
            <a:off x="3931920" y="3794760"/>
            <a:ext cx="2286000" cy="50292"/>
          </a:xfrm>
          <a:prstGeom prst="rect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4023360" y="3977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800"/>
                </a:solidFill>
              </a:rPr>
              <a:t>9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4023360" y="4544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</a:rPr>
              <a:t>Provinces Covered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4D8"/>
                </a:solidFill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0F0"/>
                </a:solidFill>
              </a:rPr>
              <a:t>Key performance indicators across 10,000 viewing sessions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Executive Summary</a:t>
            </a:r>
            <a:endParaRPr 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Bright TV Q1 2016 — High-level viewership snapshot</a:t>
            </a:r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</a:rPr>
              <a:t>4,386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Viewers</a:t>
            </a:r>
          </a:p>
        </p:txBody>
      </p:sp>
      <p:sp>
        <p:nvSpPr>
          <p:cNvPr id="8" name="Shape 6"/>
          <p:cNvSpPr/>
          <p:nvPr/>
        </p:nvSpPr>
        <p:spPr>
          <a:xfrm>
            <a:off x="2377440" y="1234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65960" cy="5486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606040" y="1463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</a:rPr>
              <a:t>10,000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Total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Sessions</a:t>
            </a:r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1965960" cy="54864"/>
          </a:xfrm>
          <a:prstGeom prst="rect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800"/>
                </a:solidFill>
              </a:rPr>
              <a:t>~9.3 min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Avg Session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Duration</a:t>
            </a:r>
          </a:p>
        </p:txBody>
      </p:sp>
      <p:sp>
        <p:nvSpPr>
          <p:cNvPr id="16" name="Shape 14"/>
          <p:cNvSpPr/>
          <p:nvPr/>
        </p:nvSpPr>
        <p:spPr>
          <a:xfrm>
            <a:off x="6766560" y="1234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6596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903720" y="1463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6B"/>
                </a:solidFill>
              </a:rPr>
              <a:t>90%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5800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Male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Viewers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</a:rPr>
              <a:t>#</a:t>
            </a:r>
            <a:r>
              <a:rPr lang="en-US" sz="1400" b="1" i="1" dirty="0">
                <a:solidFill>
                  <a:schemeClr val="tx2"/>
                </a:solidFill>
              </a:rPr>
              <a:t>1 Channel</a:t>
            </a: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960120" y="3264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SuperSport Live Events leads in unique viewers (1,164 viewers). ICC Cricket World Cup 2011 dominates total watch time at 24,727 minutes.</a:t>
            </a:r>
          </a:p>
        </p:txBody>
      </p:sp>
      <p:sp>
        <p:nvSpPr>
          <p:cNvPr id="24" name="Shape 21"/>
          <p:cNvSpPr/>
          <p:nvPr/>
        </p:nvSpPr>
        <p:spPr>
          <a:xfrm>
            <a:off x="4754880" y="2898648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0896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9496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Gauteng Dominates</a:t>
            </a:r>
          </a:p>
        </p:txBody>
      </p:sp>
      <p:sp>
        <p:nvSpPr>
          <p:cNvPr id="27" name="Text 23"/>
          <p:cNvSpPr/>
          <p:nvPr/>
        </p:nvSpPr>
        <p:spPr>
          <a:xfrm>
            <a:off x="5394960" y="3264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37% of all sessions originate from </a:t>
            </a:r>
            <a:r>
              <a:rPr lang="en-US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Gauteng. Western Cape </a:t>
            </a:r>
            <a:r>
              <a:rPr lang="en-US" sz="95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2nd at 18%. These two provinces alone account for over half of viewership</a:t>
            </a:r>
            <a:r>
              <a:rPr lang="en-US" sz="950" dirty="0">
                <a:solidFill>
                  <a:srgbClr val="8B9CB5"/>
                </a:solidFill>
              </a:rPr>
              <a:t>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20040" y="39319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14800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60120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0B1F3A"/>
                </a:solidFill>
              </a:rPr>
              <a:t>Peak Viewing Times</a:t>
            </a:r>
            <a:endParaRPr lang="en-US" sz="1400" i="1" dirty="0"/>
          </a:p>
        </p:txBody>
      </p:sp>
      <p:sp>
        <p:nvSpPr>
          <p:cNvPr id="31" name="Text 26"/>
          <p:cNvSpPr/>
          <p:nvPr/>
        </p:nvSpPr>
        <p:spPr>
          <a:xfrm>
            <a:off x="960120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Afternoons are the busiest viewing period (38% of sessions). Morning sessions follow at 31%. Saturday and Friday see the highest traffic.</a:t>
            </a:r>
          </a:p>
        </p:txBody>
      </p:sp>
      <p:sp>
        <p:nvSpPr>
          <p:cNvPr id="32" name="Shape 27"/>
          <p:cNvSpPr/>
          <p:nvPr/>
        </p:nvSpPr>
        <p:spPr>
          <a:xfrm>
            <a:off x="4754880" y="39319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114800"/>
            <a:ext cx="411480" cy="4114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394960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Core Audience</a:t>
            </a: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35" name="Text 29"/>
          <p:cNvSpPr/>
          <p:nvPr/>
        </p:nvSpPr>
        <p:spPr>
          <a:xfrm>
            <a:off x="5394960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Middle-Aged viewers (30-49) form 45% of the audience. Young Adults (18-29) are second at 37%. Black audiences represent 48% of viewers.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4D8"/>
                </a:solidFill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Audience Demographics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0F0"/>
                </a:solidFill>
              </a:rPr>
              <a:t>Understanding who tunes in to Bright TV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</a:rPr>
              <a:t>Who Is Watching?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0F0"/>
                </a:solidFill>
              </a:rPr>
              <a:t>Demographic breakdown across gender, age, and race</a:t>
            </a:r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8B9CB5"/>
                </a:solidFill>
              </a:rPr>
              <a:t>GENDER SPLIT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276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6093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A800"/>
                </a:solidFill>
              </a:rPr>
              <a:t>90%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78992" y="2011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0F0"/>
                </a:solidFill>
              </a:rPr>
              <a:t>Male viewers</a:t>
            </a:r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10% Female</a:t>
            </a:r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1872117549"/>
              </p:ext>
            </p:extLst>
          </p:nvPr>
        </p:nvGraphicFramePr>
        <p:xfrm>
          <a:off x="3108960" y="1005840"/>
          <a:ext cx="5715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i="1" kern="0" spc="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AUDIENCE BY RACE</a:t>
            </a:r>
            <a:endParaRPr lang="en-US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hape 8"/>
          <p:cNvSpPr/>
          <p:nvPr/>
        </p:nvSpPr>
        <p:spPr>
          <a:xfrm>
            <a:off x="320040" y="4297680"/>
            <a:ext cx="160020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9"/>
          <p:cNvSpPr/>
          <p:nvPr/>
        </p:nvSpPr>
        <p:spPr>
          <a:xfrm>
            <a:off x="320040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48%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Black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039112" y="4297680"/>
            <a:ext cx="1600200" cy="640080"/>
          </a:xfrm>
          <a:prstGeom prst="rect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1"/>
          <p:cNvSpPr/>
          <p:nvPr/>
        </p:nvSpPr>
        <p:spPr>
          <a:xfrm>
            <a:off x="2039112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18%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Coloured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758184" y="4297680"/>
            <a:ext cx="1600200" cy="64008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3"/>
          <p:cNvSpPr/>
          <p:nvPr/>
        </p:nvSpPr>
        <p:spPr>
          <a:xfrm>
            <a:off x="3758184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18%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Indian/Asian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77256" y="4297680"/>
            <a:ext cx="1600200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/>
          <p:nvPr/>
        </p:nvSpPr>
        <p:spPr>
          <a:xfrm>
            <a:off x="5477256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14%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White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196328" y="4297680"/>
            <a:ext cx="1600200" cy="640080"/>
          </a:xfrm>
          <a:prstGeom prst="rect">
            <a:avLst/>
          </a:prstGeom>
          <a:solidFill>
            <a:srgbClr val="8B9CB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7"/>
          <p:cNvSpPr/>
          <p:nvPr/>
        </p:nvSpPr>
        <p:spPr>
          <a:xfrm>
            <a:off x="7196328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Other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4D8"/>
                </a:solidFill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7354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Channel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Reach, sessions, and total viewing time across 18 channels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</a:rPr>
              <a:t>Top Channels by Sessions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viewing sessions per channel</a:t>
            </a: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69455171"/>
              </p:ext>
            </p:extLst>
          </p:nvPr>
        </p:nvGraphicFramePr>
        <p:xfrm>
          <a:off x="320040" y="1051560"/>
          <a:ext cx="8503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</a:rPr>
              <a:t>Total Watch Time per Channel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Viewing minutes — reflects actual audience engagement</a:t>
            </a:r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51560"/>
          <a:ext cx="6217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051560"/>
            <a:ext cx="2103120" cy="34747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2344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A800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812280" y="20574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ICC Cricket World Cup holds only 15% of sessions but drives 25% of total watch time — indicating deep engagement from cricket fans.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812280" y="3520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CB5"/>
                </a:solidFill>
              </a:rPr>
              <a:t>SuperSport Live Events is the most-watched channel by breadth, with 1,164 unique viewers.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4D8"/>
                </a:solidFill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Geographical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Provincial viewership distribution across South Africa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</a:rPr>
              <a:t>Viewership by Province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Sessions originating from each province (9 provinces Analyst)</a:t>
            </a: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227268750"/>
              </p:ext>
            </p:extLst>
          </p:nvPr>
        </p:nvGraphicFramePr>
        <p:xfrm>
          <a:off x="320040" y="1051560"/>
          <a:ext cx="47548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kern="0" spc="2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5 PROVINCES</a:t>
            </a:r>
            <a:endParaRPr lang="en-US" sz="1400" i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3"/>
          <p:cNvSpPr/>
          <p:nvPr/>
        </p:nvSpPr>
        <p:spPr>
          <a:xfrm>
            <a:off x="5303520" y="1417320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4"/>
          <p:cNvSpPr/>
          <p:nvPr/>
        </p:nvSpPr>
        <p:spPr>
          <a:xfrm>
            <a:off x="5303520" y="1417320"/>
            <a:ext cx="54864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5486400" y="1472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</a:rPr>
              <a:t>Gauteng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1709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030A0"/>
                </a:solidFill>
              </a:rPr>
              <a:t>3,654 sessions</a:t>
            </a:r>
          </a:p>
        </p:txBody>
      </p:sp>
      <p:sp>
        <p:nvSpPr>
          <p:cNvPr id="10" name="Text 7"/>
          <p:cNvSpPr/>
          <p:nvPr/>
        </p:nvSpPr>
        <p:spPr>
          <a:xfrm>
            <a:off x="8046720" y="1527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D8"/>
                </a:solidFill>
              </a:rPr>
              <a:t>37%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303520" y="2075688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5303520" y="2075688"/>
            <a:ext cx="54864" cy="566928"/>
          </a:xfrm>
          <a:prstGeom prst="rect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5486400" y="2130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</a:rPr>
              <a:t>Western Cape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2368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030A0"/>
                </a:solidFill>
              </a:rPr>
              <a:t>1,845 sessions</a:t>
            </a:r>
          </a:p>
        </p:txBody>
      </p:sp>
      <p:sp>
        <p:nvSpPr>
          <p:cNvPr id="15" name="Text 12"/>
          <p:cNvSpPr/>
          <p:nvPr/>
        </p:nvSpPr>
        <p:spPr>
          <a:xfrm>
            <a:off x="8046720" y="21854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A800"/>
                </a:solidFill>
              </a:rPr>
              <a:t>18%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303520" y="2734056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4"/>
          <p:cNvSpPr/>
          <p:nvPr/>
        </p:nvSpPr>
        <p:spPr>
          <a:xfrm>
            <a:off x="5303520" y="2734056"/>
            <a:ext cx="54864" cy="566928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5486400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</a:rPr>
              <a:t>KZN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0" y="3026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030A0"/>
                </a:solidFill>
              </a:rPr>
              <a:t>1,001 sessions</a:t>
            </a:r>
          </a:p>
        </p:txBody>
      </p:sp>
      <p:sp>
        <p:nvSpPr>
          <p:cNvPr id="20" name="Text 17"/>
          <p:cNvSpPr/>
          <p:nvPr/>
        </p:nvSpPr>
        <p:spPr>
          <a:xfrm>
            <a:off x="8046720" y="28437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96B7"/>
                </a:solidFill>
              </a:rPr>
              <a:t>10%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303520" y="3392424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19"/>
          <p:cNvSpPr/>
          <p:nvPr/>
        </p:nvSpPr>
        <p:spPr>
          <a:xfrm>
            <a:off x="5303520" y="3392424"/>
            <a:ext cx="54864" cy="566928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5486400" y="3447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</a:rPr>
              <a:t>Mpumalanga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0" y="3685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030A0"/>
                </a:solidFill>
              </a:rPr>
              <a:t>918 sessions</a:t>
            </a:r>
          </a:p>
        </p:txBody>
      </p:sp>
      <p:sp>
        <p:nvSpPr>
          <p:cNvPr id="25" name="Text 22"/>
          <p:cNvSpPr/>
          <p:nvPr/>
        </p:nvSpPr>
        <p:spPr>
          <a:xfrm>
            <a:off x="8046720" y="35021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4ECDC4"/>
                </a:solidFill>
              </a:rPr>
              <a:t>9%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303520" y="4050792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4"/>
          <p:cNvSpPr/>
          <p:nvPr/>
        </p:nvSpPr>
        <p:spPr>
          <a:xfrm>
            <a:off x="5303520" y="4050792"/>
            <a:ext cx="54864" cy="5669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5"/>
          <p:cNvSpPr/>
          <p:nvPr/>
        </p:nvSpPr>
        <p:spPr>
          <a:xfrm>
            <a:off x="5486400" y="4105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</a:rPr>
              <a:t>Limpopo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0" y="43434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030A0"/>
                </a:solidFill>
              </a:rPr>
              <a:t>763 sessions</a:t>
            </a:r>
          </a:p>
        </p:txBody>
      </p:sp>
      <p:sp>
        <p:nvSpPr>
          <p:cNvPr id="30" name="Text 27"/>
          <p:cNvSpPr/>
          <p:nvPr/>
        </p:nvSpPr>
        <p:spPr>
          <a:xfrm>
            <a:off x="8046720" y="4160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6B6B"/>
                </a:solidFill>
              </a:rPr>
              <a:t>8%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4D8"/>
                </a:solidFill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Viewing Behaviour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When, how long, and how frequently audiences watch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3A"/>
                </a:solidFill>
              </a:rPr>
              <a:t>When Does South Africa Watch?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030A0"/>
                </a:solidFill>
              </a:rPr>
              <a:t>Viewing patterns by time of day and day of week</a:t>
            </a: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21353560"/>
              </p:ext>
            </p:extLst>
          </p:nvPr>
        </p:nvGraphicFramePr>
        <p:xfrm>
          <a:off x="320040" y="1005840"/>
          <a:ext cx="4389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666677435"/>
              </p:ext>
            </p:extLst>
          </p:nvPr>
        </p:nvGraphicFramePr>
        <p:xfrm>
          <a:off x="4846320" y="1005840"/>
          <a:ext cx="3977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</a:rPr>
              <a:t>Monthly Trend &amp; Session Duration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Audience growth through Q1 2016 and average engagement by age group</a:t>
            </a: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770200210"/>
              </p:ext>
            </p:extLst>
          </p:nvPr>
        </p:nvGraphicFramePr>
        <p:xfrm>
          <a:off x="320040" y="105156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1917074171"/>
              </p:ext>
            </p:extLst>
          </p:nvPr>
        </p:nvGraphicFramePr>
        <p:xfrm>
          <a:off x="5120640" y="1051560"/>
          <a:ext cx="37033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33088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4041648"/>
            <a:ext cx="7589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March had more than double January's sessions — indicating strong audience growth  (ICC Cricket World Cup peak session ). Adults watch longest at ~10.2 min/session; Teenagers the shortest at ~6.1 min.</a:t>
            </a:r>
          </a:p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4D8"/>
                </a:solidFill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Strategic Recommendations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Data-driven actions to grow Bright TV's audience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Strategic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Six  action plans based for viewership data</a:t>
            </a:r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64008" cy="11155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84632" y="148132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846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Double Down on Sports Content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600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ICC Cricket &amp; SuperSport drive the most sessions and watch time. Expand live sports rights to capitalise on proven audience demand.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64008" cy="1115568"/>
          </a:xfrm>
          <a:prstGeom prst="rect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4919472" y="1481328"/>
            <a:ext cx="384048" cy="384048"/>
          </a:xfrm>
          <a:prstGeom prst="ellipse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91947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13248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 Female Audience 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13248" y="1600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10% of viewers are female — a major untapped segment. Add lifestyle, drama, and entertainment programming to build female reach.</a:t>
            </a:r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64008" cy="1115568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84632" y="2743200"/>
            <a:ext cx="384048" cy="384048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8463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Maximise Afternoon Scheduling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" y="28620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38% of sessions happen in the afternoon. Schedule premium content between 12:00–18:00 to capture peak traffic and boost ad revenue.</a:t>
            </a:r>
          </a:p>
        </p:txBody>
      </p:sp>
      <p:sp>
        <p:nvSpPr>
          <p:cNvPr id="22" name="Shape 20"/>
          <p:cNvSpPr/>
          <p:nvPr/>
        </p:nvSpPr>
        <p:spPr>
          <a:xfrm>
            <a:off x="4754880" y="2450592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4754880" y="2450592"/>
            <a:ext cx="64008" cy="111556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4919472" y="2743200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91947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 in Gauteng &amp; Western Cape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3248" y="28620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Together these provinces drive 55% of viewership. Localised content, promotions, and partnerships in these markets offer the highest ROI.</a:t>
            </a:r>
          </a:p>
        </p:txBody>
      </p:sp>
      <p:sp>
        <p:nvSpPr>
          <p:cNvPr id="28" name="Shape 26"/>
          <p:cNvSpPr/>
          <p:nvPr/>
        </p:nvSpPr>
        <p:spPr>
          <a:xfrm>
            <a:off x="320040" y="3712464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320040" y="3712464"/>
            <a:ext cx="64008" cy="1115568"/>
          </a:xfrm>
          <a:prstGeom prst="rect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484632" y="4005072"/>
            <a:ext cx="384048" cy="384048"/>
          </a:xfrm>
          <a:prstGeom prst="ellipse">
            <a:avLst/>
          </a:prstGeom>
          <a:solidFill>
            <a:srgbClr val="F4A80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48463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8408" y="38039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Re-engage Teenagers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" y="41239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Teens show the shortest session durations (6.1 min). Introduce short-form, social-first content and digital extensions to keep them engaged.</a:t>
            </a:r>
          </a:p>
        </p:txBody>
      </p:sp>
      <p:sp>
        <p:nvSpPr>
          <p:cNvPr id="34" name="Shape 32"/>
          <p:cNvSpPr/>
          <p:nvPr/>
        </p:nvSpPr>
        <p:spPr>
          <a:xfrm>
            <a:off x="4754880" y="3712464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4754880" y="3712464"/>
            <a:ext cx="64008" cy="11155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4919472" y="4005072"/>
            <a:ext cx="384048" cy="38404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491947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13248" y="38039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Leverage Social Media Handles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13248" y="41239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Viewers have social handles on record. Launch interactive campaigns on Channel O, Trace TV, and Africa Magic — the top social-oriented channels.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677" y="1758462"/>
            <a:ext cx="3200400" cy="3078625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0B1F3A"/>
                </a:solidFill>
              </a:rPr>
              <a:t>BRIGHT TV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324F"/>
                </a:solidFill>
              </a:rPr>
              <a:t> Analytics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324F"/>
                </a:solidFill>
              </a:rPr>
              <a:t>Q1 2016 Report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0" y="534572"/>
            <a:ext cx="5029200" cy="195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sz="5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0" y="2285999"/>
            <a:ext cx="5029200" cy="1209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: Judicious Masasanya </a:t>
            </a:r>
            <a:b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Data Scientist</a:t>
            </a:r>
          </a:p>
        </p:txBody>
      </p:sp>
      <p:sp>
        <p:nvSpPr>
          <p:cNvPr id="9" name="Shape 6"/>
          <p:cNvSpPr/>
          <p:nvPr/>
        </p:nvSpPr>
        <p:spPr>
          <a:xfrm>
            <a:off x="3087858" y="3834150"/>
            <a:ext cx="4754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365760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60520" y="3858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789</Words>
  <Application>Microsoft Office PowerPoint</Application>
  <PresentationFormat>On-screen Show (16:9)</PresentationFormat>
  <Paragraphs>182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Viewership Analytics</dc:title>
  <dc:subject>PptxGenJS Presentation</dc:subject>
  <dc:creator>PptxGenJS</dc:creator>
  <cp:lastModifiedBy>Judicious Masasanya</cp:lastModifiedBy>
  <cp:revision>2</cp:revision>
  <dcterms:created xsi:type="dcterms:W3CDTF">2026-04-19T18:40:05Z</dcterms:created>
  <dcterms:modified xsi:type="dcterms:W3CDTF">2026-04-20T17:34:11Z</dcterms:modified>
</cp:coreProperties>
</file>