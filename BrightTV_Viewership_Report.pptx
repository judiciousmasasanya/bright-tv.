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by 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6D3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DE8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CB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Middle-Aged
(30-49)</c:v>
                  </c:pt>
                  <c:pt idx="1">
                    <c:v>Young Adults
(18-29)</c:v>
                  </c:pt>
                  <c:pt idx="2">
                    <c:v>Adults
(50-64)</c:v>
                  </c:pt>
                  <c:pt idx="3">
                    <c:v>Teenagers
(13-17)</c:v>
                  </c:pt>
                  <c:pt idx="4">
                    <c:v>Kids
(&lt;13)</c:v>
                  </c:pt>
                  <c:pt idx="5">
                    <c:v>Seniors
(65+)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4455</c:v>
                </c:pt>
                <c:pt idx="1">
                  <c:v>3748</c:v>
                </c:pt>
                <c:pt idx="2">
                  <c:v>898</c:v>
                </c:pt>
                <c:pt idx="3">
                  <c:v>436</c:v>
                </c:pt>
                <c:pt idx="4">
                  <c:v>358</c:v>
                </c:pt>
                <c:pt idx="5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Supersport
Live Events</c:v>
                  </c:pt>
                  <c:pt idx="1">
                    <c:v>ICC Cricket
World Cup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
Blitz</c:v>
                  </c:pt>
                  <c:pt idx="5">
                    <c:v>Africa
Magic</c:v>
                  </c:pt>
                  <c:pt idx="6">
                    <c:v>Cartoon
Network</c:v>
                  </c:pt>
                  <c:pt idx="7">
                    <c:v>Boomerang</c:v>
                  </c:pt>
                  <c:pt idx="8">
                    <c:v>CNN</c:v>
                  </c:pt>
                  <c:pt idx="9">
                    <c:v>E!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Watch Time (mins)</c:v>
                </c:pt>
              </c:strCache>
            </c:strRef>
          </c:tx>
          <c:spPr>
            <a:solidFill>
              <a:srgbClr val="F4A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ICC Cricket
World Cup</c:v>
                  </c:pt>
                  <c:pt idx="1">
                    <c:v>Supersport
Live Events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
Blitz</c:v>
                  </c:pt>
                  <c:pt idx="5">
                    <c:v>Boomerang</c:v>
                  </c:pt>
                  <c:pt idx="6">
                    <c:v>Cartoon
Network</c:v>
                  </c:pt>
                  <c:pt idx="7">
                    <c:v>CNN</c:v>
                  </c:pt>
                  <c:pt idx="8">
                    <c:v>Africa
Magic</c:v>
                  </c:pt>
                  <c:pt idx="9">
                    <c:v>E! Ent.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24728</c:v>
                </c:pt>
                <c:pt idx="1">
                  <c:v>18792</c:v>
                </c:pt>
                <c:pt idx="2">
                  <c:v>11565</c:v>
                </c:pt>
                <c:pt idx="3">
                  <c:v>11515</c:v>
                </c:pt>
                <c:pt idx="4">
                  <c:v>5441</c:v>
                </c:pt>
                <c:pt idx="5">
                  <c:v>4396</c:v>
                </c:pt>
                <c:pt idx="6">
                  <c:v>4215</c:v>
                </c:pt>
                <c:pt idx="7">
                  <c:v>4067</c:v>
                </c:pt>
                <c:pt idx="8">
                  <c:v>2927</c:v>
                </c:pt>
                <c:pt idx="9">
                  <c:v>2219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4A800"/>
              </a:solidFill>
              <a:effectLst/>
            </c:spPr>
          </c:dPt>
          <c:dPt>
            <c:idx val="2"/>
            <c:bubble3D val="0"/>
            <c:spPr>
              <a:solidFill>
                <a:srgbClr val="0096B7"/>
              </a:solidFill>
              <a:effectLst/>
            </c:spPr>
          </c:dPt>
          <c:dPt>
            <c:idx val="3"/>
            <c:bubble3D val="0"/>
            <c:spPr>
              <a:solidFill>
                <a:srgbClr val="96D3E0"/>
              </a:solidFill>
              <a:effectLst/>
            </c:spPr>
          </c:dPt>
          <c:dPt>
            <c:idx val="4"/>
            <c:bubble3D val="0"/>
            <c:spPr>
              <a:solidFill>
                <a:srgbClr val="4ECDC4"/>
              </a:solidFill>
              <a:effectLst/>
            </c:spPr>
          </c:dPt>
          <c:dPt>
            <c:idx val="5"/>
            <c:bubble3D val="0"/>
            <c:spPr>
              <a:solidFill>
                <a:srgbClr val="F4C430"/>
              </a:solidFill>
              <a:effectLst/>
            </c:spPr>
          </c:dPt>
          <c:dPt>
            <c:idx val="6"/>
            <c:bubble3D val="0"/>
            <c:spPr>
              <a:solidFill>
                <a:srgbClr val="FF6B6B"/>
              </a:solidFill>
              <a:effectLst/>
            </c:spPr>
          </c:dPt>
          <c:dPt>
            <c:idx val="7"/>
            <c:bubble3D val="0"/>
            <c:spPr>
              <a:solidFill>
                <a:srgbClr val="8B9CB5"/>
              </a:solidFill>
              <a:effectLst/>
            </c:spPr>
          </c:dPt>
          <c:dPt>
            <c:idx val="8"/>
            <c:bubble3D val="0"/>
            <c:spPr>
              <a:solidFill>
                <a:srgbClr val="CDE8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KwaZulu-Natal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by Time of Day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4A800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0096B7"/>
              </a:solidFill>
              <a:effectLst/>
            </c:spPr>
          </c:dPt>
          <c:dPt>
            <c:idx val="3"/>
            <c:bubble3D val="0"/>
            <c:spPr>
              <a:solidFill>
                <a:srgbClr val="96D3E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Afternoon</c:v>
                </c:pt>
                <c:pt idx="1">
                  <c:v>Morning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3807</c:v>
                </c:pt>
                <c:pt idx="1">
                  <c:v>3085</c:v>
                </c:pt>
                <c:pt idx="2">
                  <c:v>2069</c:v>
                </c:pt>
                <c:pt idx="3">
                  <c:v>1039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CB5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Saturday</c:v>
                  </c:pt>
                  <c:pt idx="1">
                    <c:v>Friday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Sunday</c:v>
                  </c:pt>
                  <c:pt idx="5">
                    <c:v>Tuesday</c:v>
                  </c:pt>
                  <c:pt idx="6">
                    <c:v>Monday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1655</c:v>
                </c:pt>
                <c:pt idx="1">
                  <c:v>1642</c:v>
                </c:pt>
                <c:pt idx="2">
                  <c:v>1539</c:v>
                </c:pt>
                <c:pt idx="3">
                  <c:v>1471</c:v>
                </c:pt>
                <c:pt idx="4">
                  <c:v>1398</c:v>
                </c:pt>
                <c:pt idx="5">
                  <c:v>1321</c:v>
                </c:pt>
                <c:pt idx="6">
                  <c:v>974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Sessions by Month (Strong Growth)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8B9C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C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2976</c:v>
                </c:pt>
                <c:pt idx="2">
                  <c:v>4821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Session Duration by Age Group (min)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8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CD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CB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Adults</c:v>
                  </c:pt>
                  <c:pt idx="1">
                    <c:v>Kids</c:v>
                  </c:pt>
                  <c:pt idx="2">
                    <c:v>Middle-Aged</c:v>
                  </c:pt>
                  <c:pt idx="3">
                    <c:v>Young Adults</c:v>
                  </c:pt>
                  <c:pt idx="4">
                    <c:v>Seniors</c:v>
                  </c:pt>
                  <c:pt idx="5">
                    <c:v>Teenagers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10.2</c:v>
                </c:pt>
                <c:pt idx="1">
                  <c:v>9.6</c:v>
                </c:pt>
                <c:pt idx="2">
                  <c:v>9.4</c:v>
                </c:pt>
                <c:pt idx="3">
                  <c:v>8.9</c:v>
                </c:pt>
                <c:pt idx="4">
                  <c:v>6.6</c:v>
                </c:pt>
                <c:pt idx="5">
                  <c:v>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324F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457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500" kern="0" dirty="0">
                <a:solidFill>
                  <a:srgbClr val="00B4D8"/>
                </a:solidFill>
              </a:rPr>
              <a:t>BRIGHT TV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5852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Viewership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Analytics Report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January – March 2016  |  South Africa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530352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886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10,000 Viewing Sessions  ·  4,386 Unique Viewers  ·  18 Channels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432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24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14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Key metrics at a glance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682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Audience Demographics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Who is watching Bright TV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Channel Performance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587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Top channels by reach &amp;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Geographic Insights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2552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Viewership by province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94176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685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Viewing Behaviour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9227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When &amp; how audiences tune 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361688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Strategic Recommendations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5902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Action points for growth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65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31920" y="96012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31920" y="960120"/>
            <a:ext cx="228600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1143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10,000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02336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Total Viewing Sessions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37960" y="96012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960120"/>
            <a:ext cx="228600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1143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4,386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629400" y="1709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Unique Viewers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31920" y="237744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931920" y="237744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800"/>
                </a:solidFill>
              </a:rPr>
              <a:t>18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402336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Channels Tracked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37960" y="237744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37960" y="237744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800"/>
                </a:solidFill>
              </a:rPr>
              <a:t>3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629400" y="3127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Months (Jan–Mar 2016)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931920" y="3794760"/>
            <a:ext cx="2286000" cy="12344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931920" y="3794760"/>
            <a:ext cx="2286000" cy="50292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47" name="Text 45"/>
          <p:cNvSpPr/>
          <p:nvPr/>
        </p:nvSpPr>
        <p:spPr>
          <a:xfrm>
            <a:off x="402336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800"/>
                </a:solidFill>
              </a:rPr>
              <a:t>9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023360" y="4544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Provinces Covered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Key performance indicators across 10,000 viewing sessions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Bright TV Q1 2016 — High-level viewership snapshot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4,386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Unique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Viewers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234440"/>
            <a:ext cx="1965960" cy="5486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1F3A"/>
                </a:solidFill>
              </a:rPr>
              <a:t>10,000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Sessions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234440"/>
            <a:ext cx="1965960" cy="54864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800"/>
                </a:solidFill>
              </a:rPr>
              <a:t>~9.3 min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0916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Avg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Duration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23444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234440"/>
            <a:ext cx="196596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463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6B"/>
                </a:solidFill>
              </a:rPr>
              <a:t>90%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58000" y="20391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Male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CB5"/>
                </a:solidFill>
              </a:rPr>
              <a:t>Viewers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#1 Channel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012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5"/>
                </a:solidFill>
              </a:rPr>
              <a:t>SuperSport Live Events leads in unique viewers (1,164 viewers). ICC Cricket World Cup 2011 dominates total watch time at 24,727 minutes.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108960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9496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Gauteng Dominates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94960" y="3264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5"/>
                </a:solidFill>
              </a:rPr>
              <a:t>37% of all sessions originate from Gauteng. Western Cape is 2nd at 18%. These two provinces alone account for over half of viewership.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004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6012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Peak Viewing Times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6012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5"/>
                </a:solidFill>
              </a:rPr>
              <a:t>Afternoons are the busiest viewing period (38% of sessions). Morning sessions follow at 31%. Saturday and Friday see the highest traffic.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54880" y="393192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11480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394960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Core Audience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394960" y="42702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CB5"/>
                </a:solidFill>
              </a:rPr>
              <a:t>Middle-Aged viewers (30-49) form 45% of the audience. Young Adults (18-29) are second at 37%. Black audiences represent 48% of viewers.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Audience Demographics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Understanding who tunes in to Bright TV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Who Is Watching?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Demographic breakdown across gender, age, and race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B9CB5"/>
                </a:solidFill>
              </a:rPr>
              <a:t>GENDER SPLIT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276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6093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A800"/>
                </a:solidFill>
              </a:rPr>
              <a:t>90%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78992" y="2011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CB5"/>
                </a:solidFill>
              </a:rPr>
              <a:t>Male viewers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5"/>
                </a:solidFill>
              </a:rPr>
              <a:t>10% Female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108960" y="1005840"/>
          <a:ext cx="5715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9CB5"/>
                </a:solidFill>
              </a:rPr>
              <a:t>AUDIENCE BY RACE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" y="4297680"/>
            <a:ext cx="16002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9"/>
          <p:cNvSpPr/>
          <p:nvPr/>
        </p:nvSpPr>
        <p:spPr>
          <a:xfrm>
            <a:off x="320040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48%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039112" y="4297680"/>
            <a:ext cx="1600200" cy="640080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15" name="Text 11"/>
          <p:cNvSpPr/>
          <p:nvPr/>
        </p:nvSpPr>
        <p:spPr>
          <a:xfrm>
            <a:off x="2039112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18%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Coloured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758184" y="4297680"/>
            <a:ext cx="1600200" cy="6400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7" name="Text 13"/>
          <p:cNvSpPr/>
          <p:nvPr/>
        </p:nvSpPr>
        <p:spPr>
          <a:xfrm>
            <a:off x="3758184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18%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Indian/Asian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77256" y="4297680"/>
            <a:ext cx="1600200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5"/>
          <p:cNvSpPr/>
          <p:nvPr/>
        </p:nvSpPr>
        <p:spPr>
          <a:xfrm>
            <a:off x="5477256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White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196328" y="4297680"/>
            <a:ext cx="1600200" cy="640080"/>
          </a:xfrm>
          <a:prstGeom prst="rect">
            <a:avLst/>
          </a:prstGeom>
          <a:solidFill>
            <a:srgbClr val="8B9CB5"/>
          </a:solidFill>
          <a:ln/>
        </p:spPr>
      </p:sp>
      <p:sp>
        <p:nvSpPr>
          <p:cNvPr id="21" name="Text 17"/>
          <p:cNvSpPr/>
          <p:nvPr/>
        </p:nvSpPr>
        <p:spPr>
          <a:xfrm>
            <a:off x="7196328" y="4297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Other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Channel Performance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Reach, sessions, and total viewing time across 18 channels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Top Channels by Sessions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Number of viewing sessions per channel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8503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Total Watch Time per Channel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Cumulative viewing minutes — reflects actual audience engagement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6217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051560"/>
            <a:ext cx="2103120" cy="347472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34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4A800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12280" y="2057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ICC Cricket World Cup holds only 15% of sessions but drives 25% of total watch time — indicating deep engagement from cricket fans.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812280" y="3520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CB5"/>
                </a:solidFill>
              </a:rPr>
              <a:t>SuperSport Live Events is the most-watched channel by breadth, with 1,164 unique viewers.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Geographic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Provincial viewership distribution across South Africa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Viewership by Province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Sessions originating from each province (9 provinces tracked)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B9CB5"/>
                </a:solidFill>
              </a:rPr>
              <a:t>TOP 5 PROVINCES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303520" y="1417320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03520" y="1417320"/>
            <a:ext cx="54864" cy="5669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4721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Gauteng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0" y="1709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3,654 sessions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1527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37%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303520" y="2075688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03520" y="2075688"/>
            <a:ext cx="54864" cy="566928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0" y="2130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Western Cape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0" y="2368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1,845 sessions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0" y="218541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A800"/>
                </a:solidFill>
              </a:rPr>
              <a:t>18%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303520" y="2734056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303520" y="2734056"/>
            <a:ext cx="54864" cy="566928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KZN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0" y="3026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1,001 sessions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0" y="28437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96B7"/>
                </a:solidFill>
              </a:rPr>
              <a:t>10%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303520" y="3392424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303520" y="3392424"/>
            <a:ext cx="54864" cy="56692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0" y="3447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Mpumalanga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0" y="3685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918 sessions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3502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ECDC4"/>
                </a:solidFill>
              </a:rPr>
              <a:t>9%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303520" y="4050792"/>
            <a:ext cx="35204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303520" y="4050792"/>
            <a:ext cx="54864" cy="56692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0" y="4105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Limpopo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4343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763 sessions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46720" y="4160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8%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Viewing Behaviour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When, how long, and how frequently audiences watch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When Does South Africa Watch?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Viewing patterns by time of day and day of week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058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005840"/>
          <a:ext cx="39776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Monthly Trend &amp; Session Duration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Audience growth through Q1 2016 and average engagement by age group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120640" y="1051560"/>
          <a:ext cx="3703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977640"/>
            <a:ext cx="8503920" cy="86868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33088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51560" y="4041648"/>
            <a:ext cx="7589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March had more than double January's sessions — indicating strong audience growth or a compelling content slate (ICC Cricket World Cup peak). Adults watch longest at ~10.2 min/session; Teenagers the shortest at ~6.1 min.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B4D8"/>
                </a:solidFill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20040" y="2560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CB5"/>
                </a:solidFill>
              </a:rPr>
              <a:t>Data-driven actions to grow Bright TV's audience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Strategic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CB5"/>
                </a:solidFill>
              </a:rPr>
              <a:t>Six priority actions based on viewership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1155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1481328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Double Down on Sports Content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ICC Cricket &amp; SuperSport drive the most sessions and watch time. Expand live sports rights to capitalise on proven audience demand.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188720"/>
            <a:ext cx="64008" cy="1115568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1481328"/>
            <a:ext cx="384048" cy="384048"/>
          </a:xfrm>
          <a:prstGeom prst="ellipse">
            <a:avLst/>
          </a:prstGeom>
          <a:solidFill>
            <a:srgbClr val="F4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Female Audience 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13248" y="1600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Only 10% of viewers are female — a major untapped segment. Add lifestyle, drama, and entertainment programming to build female reach.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2450592"/>
            <a:ext cx="64008" cy="111556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" y="2743200"/>
            <a:ext cx="384048" cy="384048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8408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Maximise Afternoon Scheduling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8408" y="2862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38% of sessions happen in the afternoon. Schedule premium content between 12:00–18:00 to capture peak traffic and boost ad revenue.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450592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450592"/>
            <a:ext cx="64008" cy="111556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9472" y="2743200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13248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 in Gauteng &amp; Western Cape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13248" y="28620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Together these provinces drive 55% of viewership. Localised content, promotions, and partnerships in these markets offer the highest ROI.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3712464"/>
            <a:ext cx="64008" cy="1115568"/>
          </a:xfrm>
          <a:prstGeom prst="rect">
            <a:avLst/>
          </a:prstGeom>
          <a:solidFill>
            <a:srgbClr val="F4A80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" y="4005072"/>
            <a:ext cx="384048" cy="384048"/>
          </a:xfrm>
          <a:prstGeom prst="ellipse">
            <a:avLst/>
          </a:prstGeom>
          <a:solidFill>
            <a:srgbClr val="F4A80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8408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Re-engage Teenagers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41239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Teens show the shortest session durations (6.1 min). Introduce short-form, social-first content and digital extensions to keep them engaged.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12464"/>
            <a:ext cx="4206240" cy="1115568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5" name="Shape 33"/>
          <p:cNvSpPr/>
          <p:nvPr/>
        </p:nvSpPr>
        <p:spPr>
          <a:xfrm>
            <a:off x="4754880" y="3712464"/>
            <a:ext cx="64008" cy="111556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19472" y="4005072"/>
            <a:ext cx="384048" cy="38404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13248" y="3803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Leverage Social Media Handles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13248" y="412394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CB5"/>
                </a:solidFill>
              </a:rPr>
              <a:t>Viewers have social handles on record. Launch interactive campaigns on Channel O, Trace TV, and Africa Magic — the top social-oriented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0B1F3A"/>
                </a:solidFill>
              </a:rPr>
              <a:t>BRIGHT TV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24F"/>
                </a:solidFill>
              </a:rPr>
              <a:t>Viewership Analytics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324F"/>
                </a:solidFill>
              </a:rPr>
              <a:t>Q1 2016 Report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0" y="1280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0" y="2880360"/>
            <a:ext cx="4754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CB5"/>
                </a:solidFill>
              </a:rPr>
              <a:t>Data covers 10,000 sessions across January – March 2016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CB5"/>
                </a:solidFill>
              </a:rPr>
              <a:t>Source: Bright TV internal viewership dataset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840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38587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CB5"/>
                </a:solidFill>
              </a:rPr>
              <a:t>10,000 sessions  |  4,386 viewers  |  18 channels  |  9 provinces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Analytics</dc:title>
  <dc:subject>PptxGenJS Presentation</dc:subject>
  <dc:creator>PptxGenJS</dc:creator>
  <cp:lastModifiedBy>PptxGenJS</cp:lastModifiedBy>
  <cp:revision>1</cp:revision>
  <dcterms:created xsi:type="dcterms:W3CDTF">2026-04-19T18:40:05Z</dcterms:created>
  <dcterms:modified xsi:type="dcterms:W3CDTF">2026-04-19T18:40:05Z</dcterms:modified>
</cp:coreProperties>
</file>